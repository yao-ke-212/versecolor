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5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225" y="5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接下来，我们进入第二部分，分析“搜韵”工具的体验数据。我们将使用同样的维度来评估这款工具，并与“诗色”的数据进行对比。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8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38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778000"/>
            <a:ext cx="1219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第一部分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429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诗色工具体验数据可视化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715000" y="5080000"/>
            <a:ext cx="762000" cy="762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Q1: 该工具帮助我高效完成本次任务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143000" y="1778000"/>
            <a:ext cx="4953000" cy="1270000"/>
          </a:xfrm>
          <a:prstGeom prst="roundRect">
            <a:avLst>
              <a:gd name="adj" fmla="val 8000"/>
            </a:avLst>
          </a:prstGeom>
          <a:solidFill>
            <a:srgbClr val="ECFE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24000" y="20955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286000" y="1968500"/>
            <a:ext cx="330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综合平均评分 (满分 5.0)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36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4.33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0" y="1778000"/>
            <a:ext cx="4953000" cy="1270000"/>
          </a:xfrm>
          <a:prstGeom prst="roundRect">
            <a:avLst>
              <a:gd name="adj" fmla="val 8000"/>
            </a:avLst>
          </a:prstGeom>
          <a:solidFill>
            <a:srgbClr val="F8FA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20955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239000" y="1968500"/>
            <a:ext cx="330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有效填写问卷人次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3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6</a:t>
            </a:r>
            <a:r>
              <a:rPr lang="en-US" sz="16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人次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3302000"/>
            <a:ext cx="9906000" cy="26670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Q2: 该工具提供的信息对我理解色彩意象帮助很大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4953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143000" y="1778000"/>
            <a:ext cx="4953000" cy="1143000"/>
          </a:xfrm>
          <a:prstGeom prst="roundRect">
            <a:avLst>
              <a:gd name="adj" fmla="val 8888"/>
            </a:avLst>
          </a:prstGeom>
          <a:solidFill>
            <a:srgbClr val="ECFE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7000" y="20447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159000" y="19685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用户评分 (满分 5.00)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32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4.67</a:t>
            </a:r>
          </a:p>
        </p:txBody>
      </p:sp>
      <p:sp>
        <p:nvSpPr>
          <p:cNvPr id="7" name="AutoShape 7"/>
          <p:cNvSpPr/>
          <p:nvPr/>
        </p:nvSpPr>
        <p:spPr>
          <a:xfrm>
            <a:off x="6477000" y="1778000"/>
            <a:ext cx="45720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31000" y="20447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620000" y="1968500"/>
            <a:ext cx="317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有效填写人次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6</a:t>
            </a:r>
            <a:r>
              <a:rPr lang="en-US" sz="16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人次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143000" y="3302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非常同意 / 很好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175000" y="3429000"/>
            <a:ext cx="5842000" cy="304800"/>
          </a:xfrm>
          <a:prstGeom prst="roundRect">
            <a:avLst>
              <a:gd name="adj" fmla="val 5000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3175000" y="3429000"/>
            <a:ext cx="3886200" cy="304800"/>
          </a:xfrm>
          <a:prstGeom prst="roundRect">
            <a:avLst>
              <a:gd name="adj" fmla="val 5000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9271000" y="3302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4 人 (66.67%)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143000" y="4191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同意 / 较好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175000" y="4318000"/>
            <a:ext cx="5842000" cy="304800"/>
          </a:xfrm>
          <a:prstGeom prst="roundRect">
            <a:avLst>
              <a:gd name="adj" fmla="val 5000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3175000" y="4318000"/>
            <a:ext cx="1943100" cy="304800"/>
          </a:xfrm>
          <a:prstGeom prst="roundRect">
            <a:avLst>
              <a:gd name="adj" fmla="val 5000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9271000" y="4191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2 人 (33.33%)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143000" y="5080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一般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175000" y="5207000"/>
            <a:ext cx="5842000" cy="304800"/>
          </a:xfrm>
          <a:prstGeom prst="roundRect">
            <a:avLst>
              <a:gd name="adj" fmla="val 5000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3175000" y="5207000"/>
            <a:ext cx="12700" cy="304800"/>
          </a:xfrm>
          <a:prstGeom prst="roundRect">
            <a:avLst>
              <a:gd name="adj" fmla="val 1200000"/>
            </a:avLst>
          </a:prstGeom>
          <a:solidFill>
            <a:srgbClr val="5EEA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9271000" y="5080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Q3: 我在使用该工具时操作顺畅、易上手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4953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143000" y="1778000"/>
            <a:ext cx="4953000" cy="1143000"/>
          </a:xfrm>
          <a:prstGeom prst="roundRect">
            <a:avLst>
              <a:gd name="adj" fmla="val 8888"/>
            </a:avLst>
          </a:prstGeom>
          <a:solidFill>
            <a:srgbClr val="F0FDFA">
              <a:alpha val="100000"/>
            </a:srgbClr>
          </a:solidFill>
          <a:ln w="12700" cap="flat" cmpd="sng">
            <a:solidFill>
              <a:srgbClr val="CCFBF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24000" y="20320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413000" y="1968500"/>
            <a:ext cx="330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用户评分 (平均分)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32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4.17</a:t>
            </a:r>
            <a:r>
              <a:rPr lang="en-US" sz="14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/ 5.00</a:t>
            </a:r>
          </a:p>
        </p:txBody>
      </p:sp>
      <p:sp>
        <p:nvSpPr>
          <p:cNvPr id="7" name="AutoShape 7"/>
          <p:cNvSpPr/>
          <p:nvPr/>
        </p:nvSpPr>
        <p:spPr>
          <a:xfrm>
            <a:off x="6350000" y="1778000"/>
            <a:ext cx="46990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31000" y="20320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620000" y="1968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有效填写人次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6</a:t>
            </a:r>
            <a:r>
              <a:rPr lang="en-US" sz="14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人次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3175000"/>
            <a:ext cx="9906000" cy="27940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Q4: 该工具检索结果精准，无关内容少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143000" y="1778000"/>
            <a:ext cx="4953000" cy="1143000"/>
          </a:xfrm>
          <a:prstGeom prst="roundRect">
            <a:avLst>
              <a:gd name="adj" fmla="val 8888"/>
            </a:avLst>
          </a:prstGeom>
          <a:solidFill>
            <a:srgbClr val="ECFE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7000" y="2032000"/>
            <a:ext cx="635000" cy="635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286000" y="19685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用户评分 (满分5分)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28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4.17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· 综合评价为“较好”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0" y="1778000"/>
            <a:ext cx="4953000" cy="1143000"/>
          </a:xfrm>
          <a:prstGeom prst="roundRect">
            <a:avLst>
              <a:gd name="adj" fmla="val 8888"/>
            </a:avLst>
          </a:prstGeom>
          <a:solidFill>
            <a:srgbClr val="F0FD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0000" y="2032000"/>
            <a:ext cx="635000" cy="635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239000" y="19685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有效填写人次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2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6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· 样本覆盖多类型用户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143000" y="3683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非常同意 / 很好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429000" y="3746500"/>
            <a:ext cx="5842000" cy="254000"/>
          </a:xfrm>
          <a:prstGeom prst="roundRect">
            <a:avLst>
              <a:gd name="adj" fmla="val 50000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3429000" y="3746500"/>
            <a:ext cx="977900" cy="254000"/>
          </a:xfrm>
          <a:prstGeom prst="roundRect">
            <a:avLst>
              <a:gd name="adj" fmla="val 50000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9525000" y="3683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1 票 (16.67%)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143000" y="4953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同意 / 较好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429000" y="5016500"/>
            <a:ext cx="5842000" cy="254000"/>
          </a:xfrm>
          <a:prstGeom prst="roundRect">
            <a:avLst>
              <a:gd name="adj" fmla="val 50000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3429000" y="5016500"/>
            <a:ext cx="4864100" cy="254000"/>
          </a:xfrm>
          <a:prstGeom prst="roundRect">
            <a:avLst>
              <a:gd name="adj" fmla="val 50000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9525000" y="4953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5 票 (83.33%)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Q5: 该工具能帮我清晰理解色彩、诗句与意象的关系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143000" y="1778000"/>
            <a:ext cx="4445000" cy="1016000"/>
          </a:xfrm>
          <a:prstGeom prst="roundRect">
            <a:avLst>
              <a:gd name="adj" fmla="val 10000"/>
            </a:avLst>
          </a:prstGeom>
          <a:solidFill>
            <a:srgbClr val="ECFE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7000" y="2006600"/>
            <a:ext cx="558800" cy="558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159000" y="1905000"/>
            <a:ext cx="317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用户评分 (平均分)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28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4.67</a:t>
            </a:r>
            <a:r>
              <a:rPr lang="en-US" sz="14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/ 5.00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0" y="1778000"/>
            <a:ext cx="4445000" cy="1016000"/>
          </a:xfrm>
          <a:prstGeom prst="roundRect">
            <a:avLst>
              <a:gd name="adj" fmla="val 10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0000" y="2006600"/>
            <a:ext cx="558800" cy="558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239000" y="1905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样本量 (有效填写人次)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2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6</a:t>
            </a:r>
            <a:r>
              <a:rPr lang="en-US" sz="14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人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143000" y="3175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非常同意 / 很好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048000" y="3175000"/>
            <a:ext cx="5334000" cy="406400"/>
          </a:xfrm>
          <a:prstGeom prst="roundRect">
            <a:avLst>
              <a:gd name="adj" fmla="val 5000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3048000" y="3175000"/>
            <a:ext cx="3556000" cy="406400"/>
          </a:xfrm>
          <a:prstGeom prst="roundRect">
            <a:avLst>
              <a:gd name="adj" fmla="val 5000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8636000" y="31750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4 票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(66.67%)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143000" y="3937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同意 / 较好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048000" y="3937000"/>
            <a:ext cx="5334000" cy="406400"/>
          </a:xfrm>
          <a:prstGeom prst="roundRect">
            <a:avLst>
              <a:gd name="adj" fmla="val 5000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3048000" y="3937000"/>
            <a:ext cx="1778000" cy="406400"/>
          </a:xfrm>
          <a:prstGeom prst="roundRect">
            <a:avLst>
              <a:gd name="adj" fmla="val 5000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636000" y="39370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2 票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(33.33%)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143000" y="4699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一般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048000" y="4699000"/>
            <a:ext cx="5334000" cy="406400"/>
          </a:xfrm>
          <a:prstGeom prst="roundRect">
            <a:avLst>
              <a:gd name="adj" fmla="val 5000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636000" y="46990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0 票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(0%)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143000" y="5461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不同意 / 非常不同意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3048000" y="5461000"/>
            <a:ext cx="5334000" cy="406400"/>
          </a:xfrm>
          <a:prstGeom prst="roundRect">
            <a:avLst>
              <a:gd name="adj" fmla="val 5000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8636000" y="54610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0 票 (0%)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Q6: 使用该工具时我的认知负担较小、不用费力思考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1016000"/>
          </a:xfrm>
          <a:prstGeom prst="roundRect">
            <a:avLst>
              <a:gd name="adj" fmla="val 1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16002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2032000" y="15875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用户评分平均分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22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4.17</a:t>
            </a:r>
            <a:r>
              <a:rPr lang="en-US" sz="14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/ 5.00</a:t>
            </a:r>
          </a:p>
        </p:txBody>
      </p:sp>
      <p:sp>
        <p:nvSpPr>
          <p:cNvPr id="6" name="AutoShape 6"/>
          <p:cNvSpPr/>
          <p:nvPr/>
        </p:nvSpPr>
        <p:spPr>
          <a:xfrm>
            <a:off x="6096000" y="1651000"/>
            <a:ext cx="12700" cy="5080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31000" y="16002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7747000" y="15875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有效填写问卷人次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2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6</a:t>
            </a:r>
            <a:r>
              <a:rPr lang="en-US" sz="14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人次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2794000"/>
            <a:ext cx="10668000" cy="3556000"/>
          </a:xfrm>
          <a:prstGeom prst="roundRect">
            <a:avLst>
              <a:gd name="adj" fmla="val 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6000" y="3048000"/>
            <a:ext cx="10160000" cy="30480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Q7: 该工具便于我进行多诗句、多语境的色彩含义对比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4953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1714500"/>
            <a:ext cx="4953000" cy="1143000"/>
          </a:xfrm>
          <a:prstGeom prst="roundRect">
            <a:avLst>
              <a:gd name="adj" fmla="val 8888"/>
            </a:avLst>
          </a:prstGeom>
          <a:solidFill>
            <a:srgbClr val="F0FDFA">
              <a:alpha val="100000"/>
            </a:srgbClr>
          </a:solidFill>
          <a:ln w="12700" cap="flat" cmpd="sng">
            <a:solidFill>
              <a:srgbClr val="CCFBF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0000" y="19812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032000" y="1879600"/>
            <a:ext cx="3556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用户评分 (5分制)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32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4.17</a:t>
            </a:r>
            <a:r>
              <a:rPr lang="en-US" sz="13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分</a:t>
            </a:r>
          </a:p>
        </p:txBody>
      </p:sp>
      <p:sp>
        <p:nvSpPr>
          <p:cNvPr id="7" name="AutoShape 7"/>
          <p:cNvSpPr/>
          <p:nvPr/>
        </p:nvSpPr>
        <p:spPr>
          <a:xfrm>
            <a:off x="6223000" y="1714500"/>
            <a:ext cx="49530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19812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239000" y="1879600"/>
            <a:ext cx="3556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有效填写人次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6</a:t>
            </a:r>
            <a:r>
              <a:rPr lang="en-US" sz="13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位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143000" y="31750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非常同意 / 很好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175000" y="3175000"/>
            <a:ext cx="5588000" cy="381000"/>
          </a:xfrm>
          <a:prstGeom prst="roundRect">
            <a:avLst>
              <a:gd name="adj" fmla="val 13333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3175000" y="3175000"/>
            <a:ext cx="2794000" cy="381000"/>
          </a:xfrm>
          <a:prstGeom prst="roundRect">
            <a:avLst>
              <a:gd name="adj" fmla="val 13333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9017000" y="3175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3人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(50.00%)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143000" y="40640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同意 / 较好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175000" y="4064000"/>
            <a:ext cx="5588000" cy="381000"/>
          </a:xfrm>
          <a:prstGeom prst="roundRect">
            <a:avLst>
              <a:gd name="adj" fmla="val 13333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3175000" y="4064000"/>
            <a:ext cx="927100" cy="381000"/>
          </a:xfrm>
          <a:prstGeom prst="roundRect">
            <a:avLst>
              <a:gd name="adj" fmla="val 13333"/>
            </a:avLst>
          </a:prstGeom>
          <a:solidFill>
            <a:srgbClr val="14B8A6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9017000" y="4064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1人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(16.67%)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143000" y="49530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一般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175000" y="4953000"/>
            <a:ext cx="5588000" cy="381000"/>
          </a:xfrm>
          <a:prstGeom prst="roundRect">
            <a:avLst>
              <a:gd name="adj" fmla="val 13333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3175000" y="4953000"/>
            <a:ext cx="1854200" cy="381000"/>
          </a:xfrm>
          <a:prstGeom prst="roundRect">
            <a:avLst>
              <a:gd name="adj" fmla="val 13333"/>
            </a:avLst>
          </a:prstGeom>
          <a:solidFill>
            <a:srgbClr val="14B8A6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9017000" y="4953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2人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(33.33%)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143000" y="57150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不同意/较差 · 非常不同意/很差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3175000" y="5715000"/>
            <a:ext cx="5588000" cy="381000"/>
          </a:xfrm>
          <a:prstGeom prst="roundRect">
            <a:avLst>
              <a:gd name="adj" fmla="val 13333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9017000" y="5715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0人 (0%)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Q8: 使用该工具遇到的最大困难 (多选题)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📊 统计概况：有效填写人次共 6 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159000"/>
            <a:ext cx="10668000" cy="4064000"/>
          </a:xfrm>
          <a:prstGeom prst="roundRect">
            <a:avLst>
              <a:gd name="adj" fmla="val 37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413000"/>
            <a:ext cx="9906000" cy="35560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Q9: 该工具的突出优势 (多选题)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4445000"/>
          </a:xfrm>
          <a:prstGeom prst="roundRect">
            <a:avLst>
              <a:gd name="adj" fmla="val 34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1714500"/>
            <a:ext cx="4953000" cy="1016000"/>
          </a:xfrm>
          <a:prstGeom prst="roundRect">
            <a:avLst>
              <a:gd name="adj" fmla="val 10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206500" y="19685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检索快速便捷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921000" y="2032000"/>
            <a:ext cx="1524000" cy="152400"/>
          </a:xfrm>
          <a:prstGeom prst="roundRect">
            <a:avLst>
              <a:gd name="adj" fmla="val 5000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2921000" y="2032000"/>
            <a:ext cx="1524000" cy="152400"/>
          </a:xfrm>
          <a:prstGeom prst="roundRect">
            <a:avLst>
              <a:gd name="adj" fmla="val 5000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4572000" y="1905000"/>
            <a:ext cx="127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6票</a:t>
            </a:r>
            <a:r>
              <a:rPr lang="en-US" sz="14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100.00%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2921000"/>
            <a:ext cx="4953000" cy="1016000"/>
          </a:xfrm>
          <a:prstGeom prst="roundRect">
            <a:avLst>
              <a:gd name="adj" fmla="val 10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206500" y="31750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便于归纳语义</a:t>
            </a:r>
            <a:b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整理论证依据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921000" y="3238500"/>
            <a:ext cx="1524000" cy="152400"/>
          </a:xfrm>
          <a:prstGeom prst="roundRect">
            <a:avLst>
              <a:gd name="adj" fmla="val 5000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2921000" y="3238500"/>
            <a:ext cx="1524000" cy="152400"/>
          </a:xfrm>
          <a:prstGeom prst="roundRect">
            <a:avLst>
              <a:gd name="adj" fmla="val 5000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572000" y="3111500"/>
            <a:ext cx="127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6票</a:t>
            </a:r>
            <a:r>
              <a:rPr lang="en-US" sz="14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100.00%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4127500"/>
            <a:ext cx="4953000" cy="1016000"/>
          </a:xfrm>
          <a:prstGeom prst="roundRect">
            <a:avLst>
              <a:gd name="adj" fmla="val 10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206500" y="43815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诗词注释与意象</a:t>
            </a:r>
            <a:b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内容全面可信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2921000" y="4445000"/>
            <a:ext cx="1524000" cy="152400"/>
          </a:xfrm>
          <a:prstGeom prst="roundRect">
            <a:avLst>
              <a:gd name="adj" fmla="val 5000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2921000" y="4445000"/>
            <a:ext cx="508000" cy="152400"/>
          </a:xfrm>
          <a:prstGeom prst="roundRect">
            <a:avLst>
              <a:gd name="adj" fmla="val 5000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4572000" y="4318000"/>
            <a:ext cx="127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2票</a:t>
            </a:r>
            <a:r>
              <a:rPr lang="en-US" sz="14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33.33%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23000" y="1714500"/>
            <a:ext cx="4953000" cy="1016000"/>
          </a:xfrm>
          <a:prstGeom prst="roundRect">
            <a:avLst>
              <a:gd name="adj" fmla="val 10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413500" y="19685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页面布局清晰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信息呈现直观</a:t>
            </a:r>
          </a:p>
        </p:txBody>
      </p:sp>
      <p:sp>
        <p:nvSpPr>
          <p:cNvPr id="21" name="AutoShape 21"/>
          <p:cNvSpPr/>
          <p:nvPr/>
        </p:nvSpPr>
        <p:spPr>
          <a:xfrm>
            <a:off x="8128000" y="2032000"/>
            <a:ext cx="1524000" cy="152400"/>
          </a:xfrm>
          <a:prstGeom prst="roundRect">
            <a:avLst>
              <a:gd name="adj" fmla="val 5000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8128000" y="2032000"/>
            <a:ext cx="1016000" cy="152400"/>
          </a:xfrm>
          <a:prstGeom prst="roundRect">
            <a:avLst>
              <a:gd name="adj" fmla="val 5000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9779000" y="1905000"/>
            <a:ext cx="127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4票</a:t>
            </a:r>
            <a:r>
              <a:rPr lang="en-US" sz="14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66.67%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223000" y="2921000"/>
            <a:ext cx="4953000" cy="1016000"/>
          </a:xfrm>
          <a:prstGeom prst="roundRect">
            <a:avLst>
              <a:gd name="adj" fmla="val 10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413500" y="31750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色彩—诗句—意象</a:t>
            </a:r>
            <a:b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关联可视化强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128000" y="3238500"/>
            <a:ext cx="1524000" cy="152400"/>
          </a:xfrm>
          <a:prstGeom prst="roundRect">
            <a:avLst>
              <a:gd name="adj" fmla="val 5000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8128000" y="3238500"/>
            <a:ext cx="762000" cy="152400"/>
          </a:xfrm>
          <a:prstGeom prst="roundRect">
            <a:avLst>
              <a:gd name="adj" fmla="val 5000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9779000" y="3111500"/>
            <a:ext cx="127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3票</a:t>
            </a:r>
            <a:r>
              <a:rPr lang="en-US" sz="14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50.00%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223000" y="4127500"/>
            <a:ext cx="4953000" cy="1016000"/>
          </a:xfrm>
          <a:prstGeom prst="roundRect">
            <a:avLst>
              <a:gd name="adj" fmla="val 10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6413500" y="43815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无明显优势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128000" y="4445000"/>
            <a:ext cx="1524000" cy="152400"/>
          </a:xfrm>
          <a:prstGeom prst="roundRect">
            <a:avLst>
              <a:gd name="adj" fmla="val 5000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9779000" y="4318000"/>
            <a:ext cx="127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0票</a:t>
            </a:r>
            <a:r>
              <a:rPr lang="en-US" sz="1400" b="1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0.0%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762000" y="5969000"/>
            <a:ext cx="10668000" cy="635000"/>
          </a:xfrm>
          <a:prstGeom prst="roundRect">
            <a:avLst>
              <a:gd name="adj" fmla="val 24000"/>
            </a:avLst>
          </a:prstGeom>
          <a:solidFill>
            <a:srgbClr val="14B8A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94000" y="6121400"/>
            <a:ext cx="304800" cy="3048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3302000" y="6096000"/>
            <a:ext cx="660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15E59"/>
                </a:solidFill>
                <a:latin typeface="Noto Sans SC"/>
                <a:ea typeface="Noto Sans SC"/>
                <a:cs typeface="Noto Sans SC"/>
                <a:sym typeface="Noto Sans SC"/>
              </a:rPr>
              <a:t>有效填写人次：6 | 多选题共选次数：21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Q10: 对自己本次任务完成质量的打分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4953000" cy="1270000"/>
          </a:xfrm>
          <a:prstGeom prst="roundRect">
            <a:avLst>
              <a:gd name="adj" fmla="val 8000"/>
            </a:avLst>
          </a:prstGeom>
          <a:solidFill>
            <a:srgbClr val="ECFEF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7000" y="20574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286000" y="1930400"/>
            <a:ext cx="3302000" cy="965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综合评分 (5分制)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36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3.83</a:t>
            </a:r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4953000" cy="1270000"/>
          </a:xfrm>
          <a:prstGeom prst="roundRect">
            <a:avLst>
              <a:gd name="adj" fmla="val 800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0" y="20574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493000" y="1930400"/>
            <a:ext cx="3302000" cy="965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有效填写人次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3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6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6000" y="3302000"/>
            <a:ext cx="10160000" cy="2667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5E17640-42A3-EE43-7C80-8CF6F31EEC24}"/>
              </a:ext>
            </a:extLst>
          </p:cNvPr>
          <p:cNvSpPr txBox="1"/>
          <p:nvPr/>
        </p:nvSpPr>
        <p:spPr>
          <a:xfrm>
            <a:off x="3048000" y="3276549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B81132B-21DD-0F6E-1DD9-4DB2EFE87379}"/>
              </a:ext>
            </a:extLst>
          </p:cNvPr>
          <p:cNvSpPr txBox="1"/>
          <p:nvPr/>
        </p:nvSpPr>
        <p:spPr>
          <a:xfrm>
            <a:off x="3048000" y="3276549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124068A-73A6-27EE-261F-BC4492BEC88B}"/>
              </a:ext>
            </a:extLst>
          </p:cNvPr>
          <p:cNvSpPr txBox="1"/>
          <p:nvPr/>
        </p:nvSpPr>
        <p:spPr>
          <a:xfrm>
            <a:off x="3048000" y="3276549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905000"/>
            <a:ext cx="1219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PART 02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683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搜韵工具体验数据可视化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461000" y="5207000"/>
            <a:ext cx="1270000" cy="762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Q1: 该工具帮助我高效完成本次任务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4953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1651000"/>
            <a:ext cx="4953000" cy="1143000"/>
          </a:xfrm>
          <a:prstGeom prst="roundRect">
            <a:avLst>
              <a:gd name="adj" fmla="val 8888"/>
            </a:avLst>
          </a:prstGeom>
          <a:solidFill>
            <a:srgbClr val="ECFE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0000" y="19050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032000" y="1803400"/>
            <a:ext cx="368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3.83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/ 5.00 (平均分)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用户对工具效率的综合评价处于较高水平</a:t>
            </a:r>
          </a:p>
        </p:txBody>
      </p:sp>
      <p:sp>
        <p:nvSpPr>
          <p:cNvPr id="7" name="AutoShape 7"/>
          <p:cNvSpPr/>
          <p:nvPr/>
        </p:nvSpPr>
        <p:spPr>
          <a:xfrm>
            <a:off x="6223000" y="1651000"/>
            <a:ext cx="4953000" cy="1143000"/>
          </a:xfrm>
          <a:prstGeom prst="roundRect">
            <a:avLst>
              <a:gd name="adj" fmla="val 8888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19050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239000" y="1803400"/>
            <a:ext cx="368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6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人次 (有效填写)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样本覆盖了不同使用场景的典型用户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6000" y="3048000"/>
            <a:ext cx="10160000" cy="30480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Q2: 该工具提供的信息对我理解色彩意象帮助很大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4953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1651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平均分：</a:t>
            </a:r>
            <a:r>
              <a:rPr lang="en-US" sz="22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3.17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350000" y="1651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有效填写人次：</a:t>
            </a:r>
            <a:r>
              <a:rPr lang="en-US" sz="22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6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413000"/>
            <a:ext cx="2032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非常不同意 / 很差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302000" y="2540000"/>
            <a:ext cx="5080000" cy="355600"/>
          </a:xfrm>
          <a:prstGeom prst="roundRect">
            <a:avLst>
              <a:gd name="adj" fmla="val 5000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3302000" y="2540000"/>
            <a:ext cx="12700" cy="355600"/>
          </a:xfrm>
          <a:prstGeom prst="roundRect">
            <a:avLst>
              <a:gd name="adj" fmla="val 140000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8636000" y="2413000"/>
            <a:ext cx="2286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 (0%)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302000"/>
            <a:ext cx="2032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不同意 / 较差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302000" y="3429000"/>
            <a:ext cx="5080000" cy="355600"/>
          </a:xfrm>
          <a:prstGeom prst="roundRect">
            <a:avLst>
              <a:gd name="adj" fmla="val 5000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3302000" y="3429000"/>
            <a:ext cx="1689100" cy="355600"/>
          </a:xfrm>
          <a:prstGeom prst="roundRect">
            <a:avLst>
              <a:gd name="adj" fmla="val 5000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8636000" y="3302000"/>
            <a:ext cx="2286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2 (33.33%)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4191000"/>
            <a:ext cx="2032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一般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302000" y="4318000"/>
            <a:ext cx="5080000" cy="355600"/>
          </a:xfrm>
          <a:prstGeom prst="roundRect">
            <a:avLst>
              <a:gd name="adj" fmla="val 5000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3302000" y="4318000"/>
            <a:ext cx="1689100" cy="355600"/>
          </a:xfrm>
          <a:prstGeom prst="roundRect">
            <a:avLst>
              <a:gd name="adj" fmla="val 5000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636000" y="4191000"/>
            <a:ext cx="2286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2 (33.33%)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5080000"/>
            <a:ext cx="2032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同意 / 较好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302000" y="5207000"/>
            <a:ext cx="5080000" cy="355600"/>
          </a:xfrm>
          <a:prstGeom prst="roundRect">
            <a:avLst>
              <a:gd name="adj" fmla="val 5000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3302000" y="5207000"/>
            <a:ext cx="850900" cy="355600"/>
          </a:xfrm>
          <a:prstGeom prst="roundRect">
            <a:avLst>
              <a:gd name="adj" fmla="val 5000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636000" y="5080000"/>
            <a:ext cx="2286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1 (16.67%)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016000" y="5842000"/>
            <a:ext cx="2032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非常同意 / 很好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3302000" y="5969000"/>
            <a:ext cx="5080000" cy="355600"/>
          </a:xfrm>
          <a:prstGeom prst="roundRect">
            <a:avLst>
              <a:gd name="adj" fmla="val 5000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3302000" y="5969000"/>
            <a:ext cx="850900" cy="355600"/>
          </a:xfrm>
          <a:prstGeom prst="roundRect">
            <a:avLst>
              <a:gd name="adj" fmla="val 5000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8636000" y="5842000"/>
            <a:ext cx="2286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1 (16.67%)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Q3: 我在使用该工具时操作顺畅、易上手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4953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143000" y="1778000"/>
            <a:ext cx="4953000" cy="1397000"/>
          </a:xfrm>
          <a:prstGeom prst="roundRect">
            <a:avLst>
              <a:gd name="adj" fmla="val 7272"/>
            </a:avLst>
          </a:prstGeom>
          <a:solidFill>
            <a:srgbClr val="14B8A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7000" y="20955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286000" y="1968500"/>
            <a:ext cx="355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综合评分 (平均分)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36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4.67</a:t>
            </a:r>
            <a:r>
              <a:rPr lang="en-US" sz="16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/ 5.00</a:t>
            </a:r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4953000" cy="1397000"/>
          </a:xfrm>
          <a:prstGeom prst="roundRect">
            <a:avLst>
              <a:gd name="adj" fmla="val 7272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20955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493000" y="1968500"/>
            <a:ext cx="342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样本量 (有效填写人次)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3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6</a:t>
            </a:r>
            <a:r>
              <a:rPr lang="en-US" sz="16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人次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3429000"/>
            <a:ext cx="10160000" cy="26670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Q4: 该工具检索结果精准，无关内容少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207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17145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2032000" y="15875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用户评分平均分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32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4.17</a:t>
            </a:r>
          </a:p>
        </p:txBody>
      </p:sp>
      <p:sp>
        <p:nvSpPr>
          <p:cNvPr id="6" name="AutoShape 6"/>
          <p:cNvSpPr/>
          <p:nvPr/>
        </p:nvSpPr>
        <p:spPr>
          <a:xfrm>
            <a:off x="6223000" y="1397000"/>
            <a:ext cx="5207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0" y="17145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7620000" y="15875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有效填写人次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6</a:t>
            </a:r>
            <a:r>
              <a:rPr lang="en-US" sz="16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人次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3048000"/>
            <a:ext cx="10668000" cy="3175000"/>
          </a:xfrm>
          <a:prstGeom prst="roundRect">
            <a:avLst>
              <a:gd name="adj" fmla="val 32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3302000"/>
            <a:ext cx="9906000" cy="26670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Q5: 该工具能帮我清晰理解色彩、诗句与意象的关系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4953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143000" y="17780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平均评分 Average Score</a:t>
            </a:r>
            <a:r>
              <a:rPr lang="en-US" sz="32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3.00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350000" y="17780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有效填写人次 Valid Respondents:</a:t>
            </a: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6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794000"/>
            <a:ext cx="9906000" cy="30480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Q6: 使用该工具时我的认知负担较小、不用费力思考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495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143000" y="1778000"/>
            <a:ext cx="50800" cy="3556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397000" y="17272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平均分</a:t>
            </a:r>
            <a:r>
              <a:rPr lang="en-US" sz="28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3.33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636000" y="17780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有效填写人次：</a:t>
            </a:r>
            <a:r>
              <a:rPr lang="en-US" sz="2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6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143000" y="2540000"/>
            <a:ext cx="9906000" cy="127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143000" y="29210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非常不同意 / 很差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175000" y="2946400"/>
            <a:ext cx="5334000" cy="3048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3175000" y="2946400"/>
            <a:ext cx="12700" cy="3048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763000" y="29210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0 人 (0%)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143000" y="36830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不同意 / 较差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175000" y="3708400"/>
            <a:ext cx="5334000" cy="3048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3175000" y="3708400"/>
            <a:ext cx="889000" cy="3048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763000" y="36830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1 人 (16.7%)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143000" y="44450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一般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175000" y="4470400"/>
            <a:ext cx="5334000" cy="3048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3175000" y="4470400"/>
            <a:ext cx="2667000" cy="3048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763000" y="44450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3 人 (50.0%)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143000" y="52070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同意 / 较好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3175000" y="5232400"/>
            <a:ext cx="5334000" cy="3048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3175000" y="5232400"/>
            <a:ext cx="889000" cy="3048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8763000" y="52070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1 人 (16.7%)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143000" y="58420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非常同意 / 很好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3175000" y="5867400"/>
            <a:ext cx="5334000" cy="3048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3175000" y="5867400"/>
            <a:ext cx="889000" cy="3048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8763000" y="58420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1 人 (16.7%)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Q7: 该工具便于我进行多诗句、多语境的色彩含义对比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3683000"/>
          </a:xfrm>
          <a:prstGeom prst="roundRect">
            <a:avLst>
              <a:gd name="adj" fmla="val 413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1651000"/>
            <a:ext cx="10160000" cy="3175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5" name="AutoShape 5"/>
          <p:cNvSpPr/>
          <p:nvPr/>
        </p:nvSpPr>
        <p:spPr>
          <a:xfrm>
            <a:off x="762000" y="53340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3000" y="5588000"/>
            <a:ext cx="635000" cy="635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032000" y="55245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平均分 (满分5.0)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2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3.83</a:t>
            </a:r>
          </a:p>
        </p:txBody>
      </p:sp>
      <p:sp>
        <p:nvSpPr>
          <p:cNvPr id="8" name="AutoShape 8"/>
          <p:cNvSpPr/>
          <p:nvPr/>
        </p:nvSpPr>
        <p:spPr>
          <a:xfrm>
            <a:off x="6223000" y="53340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4000" y="5588000"/>
            <a:ext cx="635000" cy="635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493000" y="55245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有效填写人次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2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6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人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Q8: 使用该工具遇到的最大困难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509000" y="1651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有效填写人次：6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159000"/>
            <a:ext cx="4953000" cy="1016000"/>
          </a:xfrm>
          <a:prstGeom prst="roundRect">
            <a:avLst>
              <a:gd name="adj" fmla="val 10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206500" y="2476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难以找到符合分类要求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429000" y="2603500"/>
            <a:ext cx="1778000" cy="152400"/>
          </a:xfrm>
          <a:prstGeom prst="roundRect">
            <a:avLst>
              <a:gd name="adj" fmla="val 66666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3429000" y="2603500"/>
            <a:ext cx="298450" cy="152400"/>
          </a:xfrm>
          <a:prstGeom prst="roundRect">
            <a:avLst>
              <a:gd name="adj" fmla="val 66666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381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5334000" y="24765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1人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2159000"/>
            <a:ext cx="4953000" cy="1016000"/>
          </a:xfrm>
          <a:prstGeom prst="roundRect">
            <a:avLst>
              <a:gd name="adj" fmla="val 10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413500" y="2476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信息杂乱，难以筛选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636000" y="2603500"/>
            <a:ext cx="1778000" cy="152400"/>
          </a:xfrm>
          <a:prstGeom prst="roundRect">
            <a:avLst>
              <a:gd name="adj" fmla="val 66666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8636000" y="2603500"/>
            <a:ext cx="596900" cy="152400"/>
          </a:xfrm>
          <a:prstGeom prst="roundRect">
            <a:avLst>
              <a:gd name="adj" fmla="val 66666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0541000" y="24765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2人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3556000"/>
            <a:ext cx="4953000" cy="1016000"/>
          </a:xfrm>
          <a:prstGeom prst="roundRect">
            <a:avLst>
              <a:gd name="adj" fmla="val 10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206500" y="3873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界面/逻辑复杂，不易上手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429000" y="4000500"/>
            <a:ext cx="1778000" cy="152400"/>
          </a:xfrm>
          <a:prstGeom prst="roundRect">
            <a:avLst>
              <a:gd name="adj" fmla="val 66666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5334000" y="38735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0人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3556000"/>
            <a:ext cx="4953000" cy="1016000"/>
          </a:xfrm>
          <a:prstGeom prst="roundRect">
            <a:avLst>
              <a:gd name="adj" fmla="val 10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413500" y="3873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色彩语义关联不清晰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636000" y="4000500"/>
            <a:ext cx="1778000" cy="152400"/>
          </a:xfrm>
          <a:prstGeom prst="roundRect">
            <a:avLst>
              <a:gd name="adj" fmla="val 66666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636000" y="4000500"/>
            <a:ext cx="596900" cy="152400"/>
          </a:xfrm>
          <a:prstGeom prst="roundRect">
            <a:avLst>
              <a:gd name="adj" fmla="val 66666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10541000" y="38735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2人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016000" y="4953000"/>
            <a:ext cx="4953000" cy="1016000"/>
          </a:xfrm>
          <a:prstGeom prst="roundRect">
            <a:avLst>
              <a:gd name="adj" fmla="val 10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1206500" y="5270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缺少跨诗句对比和归纳梳理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3429000" y="5397500"/>
            <a:ext cx="1778000" cy="152400"/>
          </a:xfrm>
          <a:prstGeom prst="roundRect">
            <a:avLst>
              <a:gd name="adj" fmla="val 66666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3429000" y="5397500"/>
            <a:ext cx="12700" cy="152400"/>
          </a:xfrm>
          <a:prstGeom prst="roundRect">
            <a:avLst>
              <a:gd name="adj" fmla="val 80000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5334000" y="52705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0人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223000" y="4953000"/>
            <a:ext cx="4953000" cy="1016000"/>
          </a:xfrm>
          <a:prstGeom prst="roundRect">
            <a:avLst>
              <a:gd name="adj" fmla="val 10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6413500" y="5270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其他（请注明）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636000" y="5397500"/>
            <a:ext cx="12700" cy="152400"/>
          </a:xfrm>
          <a:prstGeom prst="roundRect">
            <a:avLst>
              <a:gd name="adj" fmla="val 80000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10541000" y="52705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1人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636000" y="5397500"/>
            <a:ext cx="1778000" cy="152400"/>
          </a:xfrm>
          <a:prstGeom prst="roundRect">
            <a:avLst>
              <a:gd name="adj" fmla="val 66666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8648700" y="5397500"/>
            <a:ext cx="285750" cy="152400"/>
          </a:xfrm>
          <a:prstGeom prst="roundRect">
            <a:avLst>
              <a:gd name="adj" fmla="val 66666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254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Q9: 该工具的突出优势 (多选题)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397000"/>
            <a:ext cx="10668000" cy="3937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762000" y="558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有效填写人次：6 | 多选题共选次数：16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Q10: 对自己本次任务完成质量的打分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4953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143000" y="1714500"/>
            <a:ext cx="4572000" cy="1016000"/>
          </a:xfrm>
          <a:prstGeom prst="roundRect">
            <a:avLst>
              <a:gd name="adj" fmla="val 10000"/>
            </a:avLst>
          </a:prstGeom>
          <a:solidFill>
            <a:srgbClr val="ECFE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7000" y="19685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032000" y="1879600"/>
            <a:ext cx="1651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综合评分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2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3.33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/ 5.00</a:t>
            </a:r>
          </a:p>
        </p:txBody>
      </p:sp>
      <p:sp>
        <p:nvSpPr>
          <p:cNvPr id="7" name="AutoShape 7"/>
          <p:cNvSpPr/>
          <p:nvPr/>
        </p:nvSpPr>
        <p:spPr>
          <a:xfrm>
            <a:off x="6223000" y="1714500"/>
            <a:ext cx="4572000" cy="1016000"/>
          </a:xfrm>
          <a:prstGeom prst="roundRect">
            <a:avLst>
              <a:gd name="adj" fmla="val 1000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19685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239000" y="1879600"/>
            <a:ext cx="3048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有效填写人次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2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6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人次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143000" y="3048000"/>
            <a:ext cx="9906000" cy="609600"/>
          </a:xfrm>
          <a:prstGeom prst="roundRect">
            <a:avLst>
              <a:gd name="adj" fmla="val 125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397000" y="3175000"/>
            <a:ext cx="203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非常不同意 / 很差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683000" y="3225800"/>
            <a:ext cx="5080000" cy="254000"/>
          </a:xfrm>
          <a:prstGeom prst="roundRect">
            <a:avLst>
              <a:gd name="adj" fmla="val 4000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9017000" y="3175000"/>
            <a:ext cx="177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0 人 (0%)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143000" y="3937000"/>
            <a:ext cx="9906000" cy="609600"/>
          </a:xfrm>
          <a:prstGeom prst="roundRect">
            <a:avLst>
              <a:gd name="adj" fmla="val 125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397000" y="4064000"/>
            <a:ext cx="203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不同意 / 较差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683000" y="4114800"/>
            <a:ext cx="5080000" cy="254000"/>
          </a:xfrm>
          <a:prstGeom prst="roundRect">
            <a:avLst>
              <a:gd name="adj" fmla="val 4000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9017000" y="4064000"/>
            <a:ext cx="177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0 人 (0%)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143000" y="4826000"/>
            <a:ext cx="9906000" cy="609600"/>
          </a:xfrm>
          <a:prstGeom prst="roundRect">
            <a:avLst>
              <a:gd name="adj" fmla="val 125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1397000" y="4953000"/>
            <a:ext cx="203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一般 (Middle)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683000" y="5003800"/>
            <a:ext cx="5080000" cy="254000"/>
          </a:xfrm>
          <a:prstGeom prst="roundRect">
            <a:avLst>
              <a:gd name="adj" fmla="val 4000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3683000" y="5003800"/>
            <a:ext cx="3390900" cy="254000"/>
          </a:xfrm>
          <a:prstGeom prst="roundRect">
            <a:avLst>
              <a:gd name="adj" fmla="val 4000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9017000" y="4953000"/>
            <a:ext cx="177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4 人 (</a:t>
            </a:r>
            <a:r>
              <a:rPr lang="en-US" sz="14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66.7%</a:t>
            </a: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143000" y="5588000"/>
            <a:ext cx="9906000" cy="609600"/>
          </a:xfrm>
          <a:prstGeom prst="roundRect">
            <a:avLst>
              <a:gd name="adj" fmla="val 125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1397000" y="5715000"/>
            <a:ext cx="203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同意 / 较好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3683000" y="5765800"/>
            <a:ext cx="5080000" cy="254000"/>
          </a:xfrm>
          <a:prstGeom prst="roundRect">
            <a:avLst>
              <a:gd name="adj" fmla="val 4000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3683000" y="5765800"/>
            <a:ext cx="1689100" cy="254000"/>
          </a:xfrm>
          <a:prstGeom prst="roundRect">
            <a:avLst>
              <a:gd name="adj" fmla="val 4000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9017000" y="5715000"/>
            <a:ext cx="177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2 人 (</a:t>
            </a:r>
            <a:r>
              <a:rPr lang="en-US" sz="14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33.3%</a:t>
            </a: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596</Words>
  <Application>Microsoft Office PowerPoint</Application>
  <PresentationFormat>宽屏</PresentationFormat>
  <Paragraphs>209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26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柯尧</dc:creator>
  <cp:lastModifiedBy>尧 柯</cp:lastModifiedBy>
  <cp:revision>2</cp:revision>
  <dcterms:modified xsi:type="dcterms:W3CDTF">2026-05-13T01:30:15Z</dcterms:modified>
</cp:coreProperties>
</file>